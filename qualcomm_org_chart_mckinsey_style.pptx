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444752"/>
            <a:ext cx="56692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rial"/>
              </a:rPr>
              <a:t>Qualcomm Incorporated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947672"/>
            <a:ext cx="694944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Executive organization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596896"/>
            <a:ext cx="68580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5F5F"/>
                </a:solidFill>
                <a:latin typeface="Arial"/>
              </a:rPr>
              <a:t>Public leadership view | McKinsey-style presentation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21808"/>
            <a:ext cx="27432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rial"/>
              </a:rPr>
              <a:t>Prepared May 8,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0"/>
            <a:ext cx="2670048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21240" y="658368"/>
            <a:ext cx="169164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Arial"/>
              </a:rPr>
              <a:t>QCOM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30384" y="5285232"/>
            <a:ext cx="1691640" cy="7680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Executive leadership
structure based on
public 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127248"/>
            <a:ext cx="283464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1E1E"/>
                </a:solidFill>
                <a:latin typeface="Arial"/>
              </a:rPr>
              <a:t>Qualcomm executive organization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92608"/>
            <a:ext cx="2331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rial"/>
              </a:rPr>
              <a:t>QUALCOMM | public leadership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70832" y="1042415"/>
            <a:ext cx="3383280" cy="438912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E1E1E"/>
                </a:solidFill>
                <a:latin typeface="Arial"/>
              </a:rPr>
              <a:t>Board of Directors</a:t>
            </a:r>
          </a:p>
          <a:p>
            <a:pPr algn="ctr"/>
            <a:r>
              <a:rPr sz="650" b="0">
                <a:solidFill>
                  <a:srgbClr val="1E1E1E"/>
                </a:solidFill>
                <a:latin typeface="Arial"/>
              </a:rPr>
              <a:t>Chair: Mark D. McLaughlin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33087" y="1810512"/>
            <a:ext cx="3877056" cy="676656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Cristiano R. Amon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President &amp; Chief Executive Officer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62472" y="1481328"/>
            <a:ext cx="0" cy="329184"/>
          </a:xfrm>
          <a:prstGeom prst="line">
            <a:avLst/>
          </a:prstGeom>
          <a:ln w="13970">
            <a:solidFill>
              <a:srgbClr val="DE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2706624"/>
            <a:ext cx="36576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5F5F5F"/>
                </a:solidFill>
                <a:latin typeface="Arial"/>
              </a:rPr>
              <a:t>Direct executive reports / leadership roles shown from public sources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62472" y="2487168"/>
            <a:ext cx="0" cy="420624"/>
          </a:xfrm>
          <a:prstGeom prst="line">
            <a:avLst/>
          </a:prstGeom>
          <a:ln w="13970">
            <a:solidFill>
              <a:srgbClr val="DE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34440" y="2907792"/>
            <a:ext cx="9710928" cy="0"/>
          </a:xfrm>
          <a:prstGeom prst="line">
            <a:avLst/>
          </a:prstGeom>
          <a:ln w="13970">
            <a:solidFill>
              <a:srgbClr val="DE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3163824"/>
            <a:ext cx="202996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 tIns="64008"/>
          <a:lstStyle/>
          <a:p>
            <a:pPr algn="l"/>
            <a:r>
              <a:rPr sz="900" b="1">
                <a:solidFill>
                  <a:srgbClr val="1E1E1E"/>
                </a:solidFill>
                <a:latin typeface="Arial"/>
              </a:rPr>
              <a:t>Akash Palkhiwala</a:t>
            </a:r>
          </a:p>
          <a:p>
            <a:pPr>
              <a:spcBef>
                <a:spcPts val="100"/>
              </a:spcBef>
            </a:pPr>
            <a:r>
              <a:rPr sz="670">
                <a:solidFill>
                  <a:srgbClr val="1F4E79"/>
                </a:solidFill>
                <a:latin typeface="Arial"/>
              </a:rPr>
              <a:t>EVP, CFO &amp; COO</a:t>
            </a:r>
          </a:p>
          <a:p>
            <a:pPr>
              <a:spcBef>
                <a:spcPts val="100"/>
              </a:spcBef>
            </a:pPr>
            <a:r>
              <a:rPr sz="580">
                <a:solidFill>
                  <a:srgbClr val="5F5F5F"/>
                </a:solidFill>
                <a:latin typeface="Arial"/>
              </a:rPr>
              <a:t>Finance, operations, GTM,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163824"/>
            <a:ext cx="73152" cy="7498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581912" y="2907792"/>
            <a:ext cx="0" cy="256032"/>
          </a:xfrm>
          <a:prstGeom prst="line">
            <a:avLst/>
          </a:prstGeom>
          <a:ln w="13970">
            <a:solidFill>
              <a:srgbClr val="DE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79776" y="3163824"/>
            <a:ext cx="202996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 tIns="64008"/>
          <a:lstStyle/>
          <a:p>
            <a:pPr algn="l"/>
            <a:r>
              <a:rPr sz="900" b="1">
                <a:solidFill>
                  <a:srgbClr val="1E1E1E"/>
                </a:solidFill>
                <a:latin typeface="Arial"/>
              </a:rPr>
              <a:t>Alexander H. Rogers</a:t>
            </a:r>
          </a:p>
          <a:p>
            <a:pPr>
              <a:spcBef>
                <a:spcPts val="100"/>
              </a:spcBef>
            </a:pPr>
            <a:r>
              <a:rPr sz="670">
                <a:solidFill>
                  <a:srgbClr val="1F4E79"/>
                </a:solidFill>
                <a:latin typeface="Arial"/>
              </a:rPr>
              <a:t>President, QTL &amp; Global Affairs</a:t>
            </a:r>
          </a:p>
          <a:p>
            <a:pPr>
              <a:spcBef>
                <a:spcPts val="100"/>
              </a:spcBef>
            </a:pPr>
            <a:r>
              <a:rPr sz="580">
                <a:solidFill>
                  <a:srgbClr val="5F5F5F"/>
                </a:solidFill>
                <a:latin typeface="Arial"/>
              </a:rPr>
              <a:t>Licensing, policy, global affairs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79776" y="3163824"/>
            <a:ext cx="73152" cy="7498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794760" y="2907792"/>
            <a:ext cx="0" cy="256032"/>
          </a:xfrm>
          <a:prstGeom prst="line">
            <a:avLst/>
          </a:prstGeom>
          <a:ln w="13970">
            <a:solidFill>
              <a:srgbClr val="DE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992624" y="3163824"/>
            <a:ext cx="202996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 tIns="64008"/>
          <a:lstStyle/>
          <a:p>
            <a:pPr algn="l"/>
            <a:r>
              <a:rPr sz="900" b="1">
                <a:solidFill>
                  <a:srgbClr val="1E1E1E"/>
                </a:solidFill>
                <a:latin typeface="Arial"/>
              </a:rPr>
              <a:t>Alex Katouzian</a:t>
            </a:r>
          </a:p>
          <a:p>
            <a:pPr>
              <a:spcBef>
                <a:spcPts val="100"/>
              </a:spcBef>
            </a:pPr>
            <a:r>
              <a:rPr sz="670">
                <a:solidFill>
                  <a:srgbClr val="1F4E79"/>
                </a:solidFill>
                <a:latin typeface="Arial"/>
              </a:rPr>
              <a:t>EVP &amp; Group GM, MCX</a:t>
            </a:r>
          </a:p>
          <a:p>
            <a:pPr>
              <a:spcBef>
                <a:spcPts val="100"/>
              </a:spcBef>
            </a:pPr>
            <a:r>
              <a:rPr sz="580">
                <a:solidFill>
                  <a:srgbClr val="5F5F5F"/>
                </a:solidFill>
                <a:latin typeface="Arial"/>
              </a:rPr>
              <a:t>Mobile, compute and XR platforms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2624" y="3163824"/>
            <a:ext cx="73152" cy="7498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007608" y="2907792"/>
            <a:ext cx="0" cy="256032"/>
          </a:xfrm>
          <a:prstGeom prst="line">
            <a:avLst/>
          </a:prstGeom>
          <a:ln w="13970">
            <a:solidFill>
              <a:srgbClr val="DE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205472" y="3163824"/>
            <a:ext cx="202996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 tIns="64008"/>
          <a:lstStyle/>
          <a:p>
            <a:pPr algn="l"/>
            <a:r>
              <a:rPr sz="900" b="1">
                <a:solidFill>
                  <a:srgbClr val="1E1E1E"/>
                </a:solidFill>
                <a:latin typeface="Arial"/>
              </a:rPr>
              <a:t>Dr. Baaziz Achour</a:t>
            </a:r>
          </a:p>
          <a:p>
            <a:pPr>
              <a:spcBef>
                <a:spcPts val="100"/>
              </a:spcBef>
            </a:pPr>
            <a:r>
              <a:rPr sz="670">
                <a:solidFill>
                  <a:srgbClr val="1F4E79"/>
                </a:solidFill>
                <a:latin typeface="Arial"/>
              </a:rPr>
              <a:t>EVP &amp; CTO, QTI</a:t>
            </a:r>
          </a:p>
          <a:p>
            <a:pPr>
              <a:spcBef>
                <a:spcPts val="100"/>
              </a:spcBef>
            </a:pPr>
            <a:r>
              <a:rPr sz="580">
                <a:solidFill>
                  <a:srgbClr val="5F5F5F"/>
                </a:solidFill>
                <a:latin typeface="Arial"/>
              </a:rPr>
              <a:t>Technology roadmap, R&amp;D, engineering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5472" y="3163824"/>
            <a:ext cx="73152" cy="7498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8220456" y="2907792"/>
            <a:ext cx="0" cy="256032"/>
          </a:xfrm>
          <a:prstGeom prst="line">
            <a:avLst/>
          </a:prstGeom>
          <a:ln w="13970">
            <a:solidFill>
              <a:srgbClr val="DE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418320" y="3163824"/>
            <a:ext cx="202996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 tIns="64008"/>
          <a:lstStyle/>
          <a:p>
            <a:pPr algn="l"/>
            <a:r>
              <a:rPr sz="900" b="1">
                <a:solidFill>
                  <a:srgbClr val="1E1E1E"/>
                </a:solidFill>
                <a:latin typeface="Arial"/>
              </a:rPr>
              <a:t>Colin Ryan</a:t>
            </a:r>
          </a:p>
          <a:p>
            <a:pPr>
              <a:spcBef>
                <a:spcPts val="100"/>
              </a:spcBef>
            </a:pPr>
            <a:r>
              <a:rPr sz="670">
                <a:solidFill>
                  <a:srgbClr val="1F4E79"/>
                </a:solidFill>
                <a:latin typeface="Arial"/>
              </a:rPr>
              <a:t>EVP, Chief Strategy &amp; Corp. Dev. Officer</a:t>
            </a:r>
          </a:p>
          <a:p>
            <a:pPr>
              <a:spcBef>
                <a:spcPts val="100"/>
              </a:spcBef>
            </a:pPr>
            <a:r>
              <a:rPr sz="580">
                <a:solidFill>
                  <a:srgbClr val="5F5F5F"/>
                </a:solidFill>
                <a:latin typeface="Arial"/>
              </a:rPr>
              <a:t>Enterprise strategy and M&amp;A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3163824"/>
            <a:ext cx="73152" cy="7498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10433304" y="2907792"/>
            <a:ext cx="0" cy="256032"/>
          </a:xfrm>
          <a:prstGeom prst="line">
            <a:avLst/>
          </a:prstGeom>
          <a:ln w="13970">
            <a:solidFill>
              <a:srgbClr val="DE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66928" y="4224528"/>
            <a:ext cx="202996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 tIns="64008"/>
          <a:lstStyle/>
          <a:p>
            <a:pPr algn="l"/>
            <a:r>
              <a:rPr sz="900" b="1">
                <a:solidFill>
                  <a:srgbClr val="1E1E1E"/>
                </a:solidFill>
                <a:latin typeface="Arial"/>
              </a:rPr>
              <a:t>Ann Chaplin</a:t>
            </a:r>
          </a:p>
          <a:p>
            <a:pPr>
              <a:spcBef>
                <a:spcPts val="100"/>
              </a:spcBef>
            </a:pPr>
            <a:r>
              <a:rPr sz="670">
                <a:solidFill>
                  <a:srgbClr val="1F4E79"/>
                </a:solidFill>
                <a:latin typeface="Arial"/>
              </a:rPr>
              <a:t>EVP, General Counsel &amp; Corporate Secretary</a:t>
            </a:r>
          </a:p>
          <a:p>
            <a:pPr>
              <a:spcBef>
                <a:spcPts val="100"/>
              </a:spcBef>
            </a:pPr>
            <a:r>
              <a:rPr sz="580">
                <a:solidFill>
                  <a:srgbClr val="5F5F5F"/>
                </a:solidFill>
                <a:latin typeface="Arial"/>
              </a:rPr>
              <a:t>Legal, governance, compliance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224528"/>
            <a:ext cx="73152" cy="7498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581912" y="2907792"/>
            <a:ext cx="0" cy="1316736"/>
          </a:xfrm>
          <a:prstGeom prst="line">
            <a:avLst/>
          </a:prstGeom>
          <a:ln w="13970">
            <a:solidFill>
              <a:srgbClr val="DE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779776" y="4224528"/>
            <a:ext cx="202996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 tIns="64008"/>
          <a:lstStyle/>
          <a:p>
            <a:pPr algn="l"/>
            <a:r>
              <a:rPr sz="900" b="1">
                <a:solidFill>
                  <a:srgbClr val="1E1E1E"/>
                </a:solidFill>
                <a:latin typeface="Arial"/>
              </a:rPr>
              <a:t>Heather Ace</a:t>
            </a:r>
          </a:p>
          <a:p>
            <a:pPr>
              <a:spcBef>
                <a:spcPts val="100"/>
              </a:spcBef>
            </a:pPr>
            <a:r>
              <a:rPr sz="670">
                <a:solidFill>
                  <a:srgbClr val="1F4E79"/>
                </a:solidFill>
                <a:latin typeface="Arial"/>
              </a:rPr>
              <a:t>EVP, Human Resources &amp; CHRO</a:t>
            </a:r>
          </a:p>
          <a:p>
            <a:pPr>
              <a:spcBef>
                <a:spcPts val="100"/>
              </a:spcBef>
            </a:pPr>
            <a:r>
              <a:rPr sz="580">
                <a:solidFill>
                  <a:srgbClr val="5F5F5F"/>
                </a:solidFill>
                <a:latin typeface="Arial"/>
              </a:rPr>
              <a:t>People, talent, culture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79776" y="4224528"/>
            <a:ext cx="73152" cy="7498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3794760" y="2907792"/>
            <a:ext cx="0" cy="1316736"/>
          </a:xfrm>
          <a:prstGeom prst="line">
            <a:avLst/>
          </a:prstGeom>
          <a:ln w="13970">
            <a:solidFill>
              <a:srgbClr val="DE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992624" y="4224528"/>
            <a:ext cx="202996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 tIns="64008"/>
          <a:lstStyle/>
          <a:p>
            <a:pPr algn="l"/>
            <a:r>
              <a:rPr sz="900" b="1">
                <a:solidFill>
                  <a:srgbClr val="1E1E1E"/>
                </a:solidFill>
                <a:latin typeface="Arial"/>
              </a:rPr>
              <a:t>Don McGuire</a:t>
            </a:r>
          </a:p>
          <a:p>
            <a:pPr>
              <a:spcBef>
                <a:spcPts val="100"/>
              </a:spcBef>
            </a:pPr>
            <a:r>
              <a:rPr sz="670">
                <a:solidFill>
                  <a:srgbClr val="1F4E79"/>
                </a:solidFill>
                <a:latin typeface="Arial"/>
              </a:rPr>
              <a:t>EVP &amp; Chief Marketing Officer</a:t>
            </a:r>
          </a:p>
          <a:p>
            <a:pPr>
              <a:spcBef>
                <a:spcPts val="100"/>
              </a:spcBef>
            </a:pPr>
            <a:r>
              <a:rPr sz="580">
                <a:solidFill>
                  <a:srgbClr val="5F5F5F"/>
                </a:solidFill>
                <a:latin typeface="Arial"/>
              </a:rPr>
              <a:t>Brand, communications, marketing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92624" y="4224528"/>
            <a:ext cx="73152" cy="7498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007608" y="2907792"/>
            <a:ext cx="0" cy="1316736"/>
          </a:xfrm>
          <a:prstGeom prst="line">
            <a:avLst/>
          </a:prstGeom>
          <a:ln w="13970">
            <a:solidFill>
              <a:srgbClr val="DE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205472" y="4224528"/>
            <a:ext cx="202996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 tIns="64008"/>
          <a:lstStyle/>
          <a:p>
            <a:pPr algn="l"/>
            <a:r>
              <a:rPr sz="900" b="1">
                <a:solidFill>
                  <a:srgbClr val="1E1E1E"/>
                </a:solidFill>
                <a:latin typeface="Arial"/>
              </a:rPr>
              <a:t>Thomas Ta</a:t>
            </a:r>
          </a:p>
          <a:p>
            <a:pPr>
              <a:spcBef>
                <a:spcPts val="100"/>
              </a:spcBef>
            </a:pPr>
            <a:r>
              <a:rPr sz="670">
                <a:solidFill>
                  <a:srgbClr val="1F4E79"/>
                </a:solidFill>
                <a:latin typeface="Arial"/>
              </a:rPr>
              <a:t>Chief Artificial Intelligence Officer</a:t>
            </a:r>
          </a:p>
          <a:p>
            <a:pPr>
              <a:spcBef>
                <a:spcPts val="100"/>
              </a:spcBef>
            </a:pPr>
            <a:r>
              <a:rPr sz="580">
                <a:solidFill>
                  <a:srgbClr val="5F5F5F"/>
                </a:solidFill>
                <a:latin typeface="Arial"/>
              </a:rPr>
              <a:t>AI strategy and enablement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05472" y="4224528"/>
            <a:ext cx="73152" cy="7498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8220456" y="2907792"/>
            <a:ext cx="0" cy="1316736"/>
          </a:xfrm>
          <a:prstGeom prst="line">
            <a:avLst/>
          </a:prstGeom>
          <a:ln w="13970">
            <a:solidFill>
              <a:srgbClr val="DE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66928" y="5513832"/>
            <a:ext cx="11045952" cy="384048"/>
          </a:xfrm>
          <a:prstGeom prst="rect">
            <a:avLst/>
          </a:prstGeom>
          <a:solidFill>
            <a:srgbClr val="F2F7FD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/>
          <a:lstStyle/>
          <a:p>
            <a:pPr algn="ctr"/>
            <a:r>
              <a:rPr sz="700">
                <a:solidFill>
                  <a:srgbClr val="5F5F5F"/>
                </a:solidFill>
                <a:latin typeface="Arial"/>
              </a:rPr>
              <a:t>Note: chart reflects an executive-level public view; internal reporting lines, full staff organizations and interim changes are not represented.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46520"/>
            <a:ext cx="97840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F5F5F"/>
                </a:solidFill>
                <a:latin typeface="Arial"/>
              </a:rPr>
              <a:t>Source: public Qualcomm leadership pages, press releases and SEC/company materials; org view prepared May 8,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2823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5F5F5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1E1E"/>
                </a:solidFill>
                <a:latin typeface="Arial"/>
              </a:rPr>
              <a:t>Leadership roles cluster around four executive agendas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92608"/>
            <a:ext cx="2331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rial"/>
              </a:rPr>
              <a:t>QUALCOMM | public leadership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8813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rial"/>
              </a:rPr>
              <a:t>The public leadership roster maps to business-line ownership, technology leadership, corporate-center controls and enabling functions.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2670048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1508760"/>
            <a:ext cx="2670048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636776"/>
            <a:ext cx="239572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Business leadership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240280"/>
            <a:ext cx="73152" cy="73152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21992"/>
            <a:ext cx="216712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1E1E1E"/>
                </a:solidFill>
                <a:latin typeface="Arial"/>
              </a:rPr>
              <a:t>Alexander H. Rogers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423160"/>
            <a:ext cx="216712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0" b="0">
                <a:solidFill>
                  <a:srgbClr val="5F5F5F"/>
                </a:solidFill>
                <a:latin typeface="Arial"/>
              </a:rPr>
              <a:t>QTL and global affairs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" y="2990088"/>
            <a:ext cx="73152" cy="73152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971800"/>
            <a:ext cx="216712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1E1E1E"/>
                </a:solidFill>
                <a:latin typeface="Arial"/>
              </a:rPr>
              <a:t>Alex Katouzian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172968"/>
            <a:ext cx="216712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0" b="0">
                <a:solidFill>
                  <a:srgbClr val="5F5F5F"/>
                </a:solidFill>
                <a:latin typeface="Arial"/>
              </a:rPr>
              <a:t>Mobile, compute and XR business unit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4992" y="1508760"/>
            <a:ext cx="2670048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64992" y="1508760"/>
            <a:ext cx="2670048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2152" y="1636776"/>
            <a:ext cx="239572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Technology &amp; product</a:t>
            </a:r>
          </a:p>
        </p:txBody>
      </p:sp>
      <p:sp>
        <p:nvSpPr>
          <p:cNvPr id="18" name="Oval 17"/>
          <p:cNvSpPr/>
          <p:nvPr/>
        </p:nvSpPr>
        <p:spPr>
          <a:xfrm>
            <a:off x="3529584" y="2240280"/>
            <a:ext cx="73152" cy="73152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5888" y="2221992"/>
            <a:ext cx="216712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1E1E1E"/>
                </a:solidFill>
                <a:latin typeface="Arial"/>
              </a:rPr>
              <a:t>Dr. Baaziz Achour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423160"/>
            <a:ext cx="216712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0" b="0">
                <a:solidFill>
                  <a:srgbClr val="5F5F5F"/>
                </a:solidFill>
                <a:latin typeface="Arial"/>
              </a:rPr>
              <a:t>R&amp;D, engineering and technology strategy</a:t>
            </a:r>
          </a:p>
        </p:txBody>
      </p:sp>
      <p:sp>
        <p:nvSpPr>
          <p:cNvPr id="21" name="Oval 20"/>
          <p:cNvSpPr/>
          <p:nvPr/>
        </p:nvSpPr>
        <p:spPr>
          <a:xfrm>
            <a:off x="3529584" y="2990088"/>
            <a:ext cx="73152" cy="73152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2971800"/>
            <a:ext cx="216712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1E1E1E"/>
                </a:solidFill>
                <a:latin typeface="Arial"/>
              </a:rPr>
              <a:t>Thomas 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5888" y="3172968"/>
            <a:ext cx="216712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0" b="0">
                <a:solidFill>
                  <a:srgbClr val="5F5F5F"/>
                </a:solidFill>
                <a:latin typeface="Arial"/>
              </a:rPr>
              <a:t>Company-wide AI agenda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1508760"/>
            <a:ext cx="2670048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1508760"/>
            <a:ext cx="2670048" cy="47548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1636776"/>
            <a:ext cx="239572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Corporate center</a:t>
            </a:r>
          </a:p>
        </p:txBody>
      </p:sp>
      <p:sp>
        <p:nvSpPr>
          <p:cNvPr id="27" name="Oval 26"/>
          <p:cNvSpPr/>
          <p:nvPr/>
        </p:nvSpPr>
        <p:spPr>
          <a:xfrm>
            <a:off x="6364224" y="2240280"/>
            <a:ext cx="73152" cy="73152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2221992"/>
            <a:ext cx="216712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1E1E1E"/>
                </a:solidFill>
                <a:latin typeface="Arial"/>
              </a:rPr>
              <a:t>Akash Palkhiwala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2423160"/>
            <a:ext cx="216712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0" b="0">
                <a:solidFill>
                  <a:srgbClr val="5F5F5F"/>
                </a:solidFill>
                <a:latin typeface="Arial"/>
              </a:rPr>
              <a:t>Finance, operations, GTM, IT</a:t>
            </a:r>
          </a:p>
        </p:txBody>
      </p:sp>
      <p:sp>
        <p:nvSpPr>
          <p:cNvPr id="30" name="Oval 29"/>
          <p:cNvSpPr/>
          <p:nvPr/>
        </p:nvSpPr>
        <p:spPr>
          <a:xfrm>
            <a:off x="6364224" y="2990088"/>
            <a:ext cx="73152" cy="73152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2971800"/>
            <a:ext cx="216712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1E1E1E"/>
                </a:solidFill>
                <a:latin typeface="Arial"/>
              </a:rPr>
              <a:t>Colin Ryan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3172968"/>
            <a:ext cx="216712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0" b="0">
                <a:solidFill>
                  <a:srgbClr val="5F5F5F"/>
                </a:solidFill>
                <a:latin typeface="Arial"/>
              </a:rPr>
              <a:t>Strategy and corporate development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34272" y="1508760"/>
            <a:ext cx="2670048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34272" y="1508760"/>
            <a:ext cx="2670048" cy="47548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71432" y="1636776"/>
            <a:ext cx="239572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Enabling functions</a:t>
            </a:r>
          </a:p>
        </p:txBody>
      </p:sp>
      <p:sp>
        <p:nvSpPr>
          <p:cNvPr id="36" name="Oval 35"/>
          <p:cNvSpPr/>
          <p:nvPr/>
        </p:nvSpPr>
        <p:spPr>
          <a:xfrm>
            <a:off x="9198864" y="2240280"/>
            <a:ext cx="73152" cy="73152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45168" y="2221992"/>
            <a:ext cx="216712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1E1E1E"/>
                </a:solidFill>
                <a:latin typeface="Arial"/>
              </a:rPr>
              <a:t>Ann Chaplin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8" y="2423160"/>
            <a:ext cx="216712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0" b="0">
                <a:solidFill>
                  <a:srgbClr val="5F5F5F"/>
                </a:solidFill>
                <a:latin typeface="Arial"/>
              </a:rPr>
              <a:t>Legal and corporate secretary</a:t>
            </a:r>
          </a:p>
        </p:txBody>
      </p:sp>
      <p:sp>
        <p:nvSpPr>
          <p:cNvPr id="39" name="Oval 38"/>
          <p:cNvSpPr/>
          <p:nvPr/>
        </p:nvSpPr>
        <p:spPr>
          <a:xfrm>
            <a:off x="9198864" y="2990088"/>
            <a:ext cx="73152" cy="73152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45168" y="2971800"/>
            <a:ext cx="216712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1E1E1E"/>
                </a:solidFill>
                <a:latin typeface="Arial"/>
              </a:rPr>
              <a:t>Heather 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5168" y="3172968"/>
            <a:ext cx="216712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0" b="0">
                <a:solidFill>
                  <a:srgbClr val="5F5F5F"/>
                </a:solidFill>
                <a:latin typeface="Arial"/>
              </a:rPr>
              <a:t>Human resources</a:t>
            </a:r>
          </a:p>
        </p:txBody>
      </p:sp>
      <p:sp>
        <p:nvSpPr>
          <p:cNvPr id="42" name="Oval 41"/>
          <p:cNvSpPr/>
          <p:nvPr/>
        </p:nvSpPr>
        <p:spPr>
          <a:xfrm>
            <a:off x="9198864" y="3739896"/>
            <a:ext cx="73152" cy="73152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5168" y="3721608"/>
            <a:ext cx="216712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1E1E1E"/>
                </a:solidFill>
                <a:latin typeface="Arial"/>
              </a:rPr>
              <a:t>Don McGuire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5168" y="3922776"/>
            <a:ext cx="216712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0" b="0">
                <a:solidFill>
                  <a:srgbClr val="5F5F5F"/>
                </a:solidFill>
                <a:latin typeface="Arial"/>
              </a:rPr>
              <a:t>Marketing and communications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46520"/>
            <a:ext cx="97840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F5F5F"/>
                </a:solidFill>
                <a:latin typeface="Arial"/>
              </a:rPr>
              <a:t>Source: public Qualcomm leadership pages, press releases and SEC/company materials; org view prepared May 8,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0" y="642823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5F5F5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1E1E"/>
                </a:solidFill>
                <a:latin typeface="Arial"/>
              </a:rPr>
              <a:t>Sources and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92608"/>
            <a:ext cx="2331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rial"/>
              </a:rPr>
              <a:t>QUALCOMM | public leadership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21945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Source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00200"/>
            <a:ext cx="10972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66CC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600200"/>
            <a:ext cx="969264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Qualcomm public leadership pages for Cristiano Amon, Akash Palkhiwala, Ann Chaplin, Colin Ryan, Alex Katouzian, Don McGuire and Baaziz Achour.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30552"/>
            <a:ext cx="10972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66CC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30552"/>
            <a:ext cx="969264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Qualcomm press releases on Akash Palkhiwala's CFO/COO appointment, Colin Ryan's strategy appointment and Baaziz Achour's CTO succession.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60904"/>
            <a:ext cx="10972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66CC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60904"/>
            <a:ext cx="969264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The Org Qualcomm leadership-team listing used as a cross-check where public pages were JavaScript-limited in automated retrieval.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749039"/>
            <a:ext cx="28346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Interpretation choices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06240"/>
            <a:ext cx="10972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66CC"/>
                </a:solidFill>
                <a:latin typeface="Arial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206240"/>
            <a:ext cx="969264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Visual hierarchy places Cristiano R. Amon as President &amp; CEO, with public executive leadership roles arrayed underneath.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681727"/>
            <a:ext cx="10972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66CC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681727"/>
            <a:ext cx="969264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Board chair is shown as oversight context, not as part of day-to-day management.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157215"/>
            <a:ext cx="10972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66CC"/>
                </a:solidFill>
                <a:latin typeface="Arial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157215"/>
            <a:ext cx="969264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The file uses a consulting-style layout because no official McKinsey template asset was present in the repository.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97840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F5F5F"/>
                </a:solidFill>
                <a:latin typeface="Arial"/>
              </a:rPr>
              <a:t>Source: public Qualcomm leadership pages, press releases and SEC/company materials; org view prepared May 8,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2823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5F5F5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Qualcomm executive organization overview</dc:title>
  <dc:subject>Public executive-level org chart in consulting-style PowerPoint format</dc:subject>
  <dc:creator>Cursor Agent</dc:creator>
  <cp:keywords>Qualcomm, org chart, executive leadership,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